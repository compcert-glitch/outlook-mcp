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570473</c:v>
                </c:pt>
                <c:pt idx="1">
                  <c:v>790918</c:v>
                </c:pt>
                <c:pt idx="2">
                  <c:v>776760</c:v>
                </c:pt>
                <c:pt idx="3">
                  <c:v>822638</c:v>
                </c:pt>
                <c:pt idx="4">
                  <c:v>664828</c:v>
                </c:pt>
                <c:pt idx="5">
                  <c:v>847980</c:v>
                </c:pt>
                <c:pt idx="6">
                  <c:v>670838</c:v>
                </c:pt>
                <c:pt idx="7">
                  <c:v>487353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811320</c:v>
                </c:pt>
                <c:pt idx="1">
                  <c:v>942513</c:v>
                </c:pt>
                <c:pt idx="2">
                  <c:v>1073518</c:v>
                </c:pt>
                <c:pt idx="3">
                  <c:v>829994</c:v>
                </c:pt>
                <c:pt idx="4">
                  <c:v>848657</c:v>
                </c:pt>
                <c:pt idx="5">
                  <c:v>867492</c:v>
                </c:pt>
                <c:pt idx="6">
                  <c:v>1003840</c:v>
                </c:pt>
                <c:pt idx="7">
                  <c:v>1194967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Wk 1
1–4 Sep</c:v>
                  </c:pt>
                  <c:pt idx="1">
                    <c:v>Wk 2
7–11 Sep</c:v>
                  </c:pt>
                  <c:pt idx="2">
                    <c:v>Wk 3
14–18 Sep</c:v>
                  </c:pt>
                  <c:pt idx="3">
                    <c:v>Wk 4
21–25 Sep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246274</c:v>
                </c:pt>
                <c:pt idx="1">
                  <c:v>123596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Still to invoice</c:v>
                </c:pt>
              </c:strCache>
            </c:strRef>
          </c:tx>
          <c:spPr>
            <a:solidFill>
              <a:srgbClr val="B58A00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Wk 1
1–4 Sep</c:v>
                  </c:pt>
                  <c:pt idx="1">
                    <c:v>Wk 2
7–11 Sep</c:v>
                  </c:pt>
                  <c:pt idx="2">
                    <c:v>Wk 3
14–18 Sep</c:v>
                  </c:pt>
                  <c:pt idx="3">
                    <c:v>Wk 4
21–25 Sep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228060</c:v>
                </c:pt>
                <c:pt idx="3">
                  <c:v>228060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Where we stand, &lt;break time="0.4s"/&gt; and what it takes to finish at nine million. &lt;break time="0.9s"/&gt; Six million invoiced to the eleventh of September. &lt;break time="0.6s"/&gt; Two thirds of the way. &lt;break time="0.7s"/&gt; Three million still to go.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year, &lt;break time="0.3s"/&gt; month by month. &lt;break time="0.8s"/&gt; Quarter one was seventy six per cent. &lt;break time="0.5s"/&gt; Quarter two recovered to ninety two. &lt;break time="0.6s"/&gt; July and August fell to fifty three. &lt;break time="0.9s"/&gt; Every single month has been behind target. &lt;break time="0.7s"/&gt; August was our worst at four hundred and eighty seven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this month, &lt;break time="0.3s"/&gt; week by week. &lt;break time="0.8s"/&gt; Week one, &lt;break time="0.3s"/&gt; two hundred and forty six thousand. &lt;break time="0.6s"/&gt; Week two, &lt;break time="0.3s"/&gt; one hundred and twenty four. &lt;break time="0.7s"/&gt; Exactly half. &lt;break time="0.9s"/&gt; We need eight hundred and twenty six thousand this month, &lt;break time="0.5s"/&gt; and we have three hundred and seventy. &lt;break time="0.7s"/&gt; Weeks three and four each need two hundred and twenty eight thousand. &lt;break time="0.9s"/&gt; And the fall is not spread evenly. &lt;break time="0.5s"/&gt; Team Six and Team Ten both halved. &lt;break time="0.6s"/&gt; Between them, &lt;break time="0.3s"/&gt; eighty four per cent of the drop.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position. &lt;break time="0.6s"/&gt; Six million banked, &lt;break time="0.4s"/&gt; three million to go. &lt;break time="0.8s"/&gt; We have averaged seven hundred and four thousand a month. &lt;break time="0.6s"/&gt; We need eight hundred and twenty six. &lt;break time="0.8s"/&gt; A seventeen per cent uplift. &lt;break time="0.5s"/&gt; Not a different business. &lt;break time="0.4s"/&gt; Seventeen per cent.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specifically. &lt;break time="0.7s"/&gt; Your number for October, November and December is here. &lt;break time="0.8s"/&gt; The same lift for everyone. &lt;break time="0.5s"/&gt; Seventeen per cent. &lt;break time="0.8s"/&gt; Find your line. &lt;break time="0.6s"/&gt; That is your number.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recommendations. &lt;break time="0.8s"/&gt; The first is free. &lt;break time="0.4s"/&gt; We carry three different annual targets on that board. &lt;break time="0.6s"/&gt; Pick one. &lt;break time="0.8s"/&gt; Second, &lt;break time="0.3s"/&gt; invoice weekly. &lt;break time="0.5s"/&gt; A week of two hundred and forty six followed by a week of one hundred and twenty four is a billing pattern, &lt;break time="0.4s"/&gt; not a work pattern. &lt;break time="0.9s"/&gt; And third, &lt;break time="0.4s"/&gt; put a forward line on the board &lt;break time="0.4s"/&gt; so it tells us what is coming. &lt;break time="0.9s"/&gt; Then reduce our reliance on Team Six, &lt;break time="0.4s"/&gt; resolve Team Four and Team Two, &lt;break time="0.4s"/&gt; and reconcile the board every month.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part worth staying for. &lt;break time="0.8s"/&gt; Nine million is the goal. &lt;break time="0.5s"/&gt; Everything above it is shared between the four of you. &lt;break time="0.6s"/&gt; Emily, &lt;break time="0.25s"/&gt; Stuart, &lt;break time="0.25s"/&gt; Cassie &lt;break time="0.25s"/&gt; and Megan. &lt;break time="0.9s"/&gt; For every two hundred thousand over nine million, &lt;break time="0.5s"/&gt; five thousand pounds each. &lt;break time="0.8s"/&gt; And ten million &lt;break time="0.4s"/&gt; is twenty five thousand each. &lt;break time="0.7s"/&gt; Measured on invoiced fees.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us be straight about ten million. &lt;break time="0.7s"/&gt; Nine million needs seventeen per cent. &lt;break time="0.6s"/&gt; Ten million needs fifty six. &lt;break time="0.8s"/&gt; It is a stretch. &lt;break time="0.4s"/&gt; It is not impossible. &lt;break time="0.7s"/&gt; But it starts with turning this week around. &lt;break time="0.8s"/&gt; Nine million is the commitment. &lt;break time="0.5s"/&gt; Ten million is the prize.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2026 YEAR TO DATE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 to £9 Million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week by week  ·  the year month by month  ·  what the rest of 2026 has to deliver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971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YEAR TO DATE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4612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£6.00m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67912"/>
            <a:ext cx="31089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11 September — 67% of the way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971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GOAL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4612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£9.00m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867912"/>
            <a:ext cx="31089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December 2026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788920"/>
            <a:ext cx="3566160" cy="17830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9718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324612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£3.00m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867912"/>
            <a:ext cx="31089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3.6 months remaining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— figures are transcribed from the fee board and should be confirmed against the accounts system before circulation.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YEAR SO FAR  ·  JANUARY TO AUGUST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year month by month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was the slow start, Q2 the recovery, and Q3 the weakest stretch of the year. August was the lowest month at £487,353.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057400"/>
            <a:ext cx="3090672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24028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 JAN–MAR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514600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75.6%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8549640" y="3429000"/>
            <a:ext cx="3090672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61188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 APR–JUN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3886200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91.7%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8549640" y="4800600"/>
            <a:ext cx="3090672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498348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 JUL–AUG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257800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52.7%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08192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target. Every month has been behind — never by less than £7,356, never by more than £707,614.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MONTH  ·  SEPTEMBER WEEK BY WEEK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September is going backwards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came in at £123,596 — exactly half of week 1. Two weeks in, we are 45% of the way to the month we need.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94560"/>
          <a:ext cx="7680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549640" y="2194560"/>
            <a:ext cx="3090672" cy="12070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805672" y="237744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BANKED SO FAR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805672" y="2651760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£369,870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8549640" y="3529584"/>
            <a:ext cx="3090672" cy="12070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05672" y="3712464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SEPTEMBER NEEDS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805672" y="3986784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£825,990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8549640" y="4864608"/>
            <a:ext cx="3090672" cy="12070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805672" y="5047488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 TO FIND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05672" y="5321808"/>
            <a:ext cx="2679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£456,120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4476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 and 4 each need £228,060 — nearly double what we invoiced last week. 28–30 September is headroom on top.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£6.00m of £9m, with 3.6 months to go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thirds of the goal banked, with roughly thirty per cent of the year left to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1672" cy="105156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7396491" cy="1051560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286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£6.00m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01163" y="228600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STILL TO INVOICE  £3.00m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66.7%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43032" y="34290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JAN–AUG RUN RATE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448056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£703,974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51023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per month, on average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15968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RATE NEEDED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48056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£825,990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023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every month, to 31 December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83296" y="4023360"/>
            <a:ext cx="3566160" cy="182880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3932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UPLIFT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448056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B5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+17%</a:t>
            </a:r>
            <a:endParaRPr lang="en-US" sz="29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51023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what we have averaged all year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TEAM LEAD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number for October, November and December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lift for everyone — 17.3% on what your team has averaged all year. Find your line; that is your number.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LEAD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035808" y="18745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YTD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87452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EACH MONTH, OCT–DEC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1874520"/>
            <a:ext cx="5852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OWN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121408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17627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17627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12140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NR, EB, BF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35808" y="2121408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98%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2121408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£373,599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779008" y="2121408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everything we invoice. Protect the run rate and flag capacity limits early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255574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25557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250088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035808" y="2500884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68%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2500884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£142,625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79008" y="2500884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£499,308 behind for the year — the biggest gap on the board to close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2880360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2935224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293522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288036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EP, CW, AL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035808" y="2880360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771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114%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2880360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£115,688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2880360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team ahead for the year. Hold it, and tell the rest of us what is working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3314700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33147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T5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00200" y="325983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035808" y="3259836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3259836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£55,134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779008" y="3259836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£211,871 behind. Convert what is already in the pipeline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3639312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3694176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0080" y="369417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T9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1600200" y="363931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035808" y="3639312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78%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3840480" y="3639312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£34,290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779008" y="3639312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all year. Clear the August carry-over and lift the weekly rate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0080" y="407365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" y="40736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T8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600200" y="4018788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3035808" y="4018788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3840480" y="4018788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£31,137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5779008" y="4018788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£86,121 behind. Review instruction volume against surveyor availability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4398264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" y="445312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40080" y="445312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1600200" y="4398264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3035808" y="4398264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81%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3840480" y="4398264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£26,807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5779008" y="4398264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−£393 last week. Find out what reversed and keep the weekly discipline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40080" y="4832604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40080" y="483260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1600200" y="4777740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3035808" y="4777740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3840480" y="4777740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£21,550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5779008" y="4777740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 for the year — our biggest concern, though last week was its best in months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548640" y="5157216"/>
            <a:ext cx="11091672" cy="379476"/>
          </a:xfrm>
          <a:prstGeom prst="rect">
            <a:avLst/>
          </a:prstGeom>
          <a:solidFill>
            <a:srgbClr val="EEF1F0"/>
          </a:solidFill>
          <a:ln w="12700">
            <a:solidFill>
              <a:srgbClr val="EEF1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0080" y="5212080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40080" y="521208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1600200" y="5157216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unallocated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3035808" y="5157216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3840480" y="5157216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£18,653</a:t>
            </a:r>
            <a:endParaRPr lang="en-US" sz="1250" dirty="0"/>
          </a:p>
        </p:txBody>
      </p:sp>
      <p:sp>
        <p:nvSpPr>
          <p:cNvPr id="68" name="Text 66"/>
          <p:cNvSpPr txBox="1"/>
          <p:nvPr/>
        </p:nvSpPr>
        <p:spPr>
          <a:xfrm>
            <a:off x="5779008" y="5157216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 on the board and nothing invoiced since June. Ownership to be resolved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640080" y="5591556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40080" y="559155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1600200" y="5536692"/>
            <a:ext cx="137160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035808" y="5536692"/>
            <a:ext cx="73152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D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58%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3840480" y="5536692"/>
            <a:ext cx="169164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58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£6,506</a:t>
            </a:r>
            <a:endParaRPr lang="en-US" sz="1250" dirty="0"/>
          </a:p>
        </p:txBody>
      </p:sp>
      <p:sp>
        <p:nvSpPr>
          <p:cNvPr id="74" name="Text 72"/>
          <p:cNvSpPr txBox="1"/>
          <p:nvPr/>
        </p:nvSpPr>
        <p:spPr>
          <a:xfrm>
            <a:off x="5779008" y="5536692"/>
            <a:ext cx="585216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line. Confirm what is booked for the rest of the year</a:t>
            </a:r>
            <a:endParaRPr lang="en-US" sz="1150" dirty="0"/>
          </a:p>
        </p:txBody>
      </p:sp>
      <p:sp>
        <p:nvSpPr>
          <p:cNvPr id="75" name="Text 73"/>
          <p:cNvSpPr txBox="1"/>
          <p:nvPr/>
        </p:nvSpPr>
        <p:spPr>
          <a:xfrm>
            <a:off x="548640" y="60533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 monthly figures add to £825,990 — the practice number. YTD % is invoiced fees against each team’s own year-to-date target.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changes that would move the number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fix how we measure, three fix how we sell and deliver. The first one is free and would take an afternoon.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86400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2304288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7685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 on one annual target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968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board carries three. The weekly line annualises to £18.2m, the monthly targets to £11.4m, and the goal is £9m. Teams are being marked against whichever is nearest.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103120"/>
            <a:ext cx="5486400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73368" y="2304288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73368" y="23042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39712" y="227685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Invoice weekly, not in batches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39712" y="25968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was £246k, week 2 £124k. Swings that size are an invoicing rhythm, not a delivery one. Weekly billing would smooth cash and make the board mean something.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5486400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3657600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8096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630168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forward line to the board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950208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records what happened. Add committed instructions and work in progress so it predicts the next four weeks instead of reporting the last one.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3456432"/>
            <a:ext cx="5486400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73368" y="3657600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73368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3630168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the T6 concentration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39712" y="3950208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is 45% of practice income. A bad quarter there is a bad quarter for everyone. Move work or grow a second team to carry it.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09744"/>
            <a:ext cx="5486400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" y="501091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8096" y="5010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34440" y="49834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 T4 and T2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234440" y="530352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has no lead and nothing since June; T2 is at 28% for the year. Between them that is £639,000 of target not being worked.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4809744"/>
            <a:ext cx="5486400" cy="1243584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73368" y="5010912"/>
            <a:ext cx="329184" cy="329184"/>
          </a:xfrm>
          <a:prstGeom prst="roundRect">
            <a:avLst>
              <a:gd name="adj" fmla="val 13889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73368" y="5010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39712" y="498348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 the board monthly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839712" y="530352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£61,254 out between the team rows and the total. Ten minutes against the accounts system each month keeps the board trustworthy.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14476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Teal: how we measure.   Gold: how we sell and deliver.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BEAT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 each for every £200,000 over £9m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Emily, Stuart, Cassie and Megan. Nine million is the goal — everything above it is shared, and it steps up every two hundred thousand.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£9.2m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£5,000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£20,000 in total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07208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4368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£9.4m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916936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£10,000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2944368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16936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£40,000 in total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65776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02936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£9.6m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£15,000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5202936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£60,000 in total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24344" y="2331720"/>
            <a:ext cx="2103120" cy="224028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61504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£9.8m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34072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£20,000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4072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8A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£80,000 in total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582912" y="2331720"/>
            <a:ext cx="2103120" cy="2240280"/>
          </a:xfrm>
          <a:prstGeom prst="rect">
            <a:avLst/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20072" y="25054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£10.0m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2907792"/>
            <a:ext cx="1883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100" dirty="0"/>
          </a:p>
        </p:txBody>
      </p:sp>
      <p:sp>
        <p:nvSpPr>
          <p:cNvPr id="28" name="Text 26"/>
          <p:cNvSpPr txBox="1"/>
          <p:nvPr/>
        </p:nvSpPr>
        <p:spPr>
          <a:xfrm>
            <a:off x="9720072" y="358444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968496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£100,000 in total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million means £25,000 each — £100,000 shared between the four of you, out of £1,000,000 of fee income above the goal.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fees invoiced, not cash collected. The scheme pays 10% of everything above £9m at every rung. Payment date to be confirmed.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STRETCH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ten million actually takes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one million above the goal. Here is the size of it, honestly, so we go after it with our eyes open.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£9M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8892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£825,990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410712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17% uplift on our year average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MONTH FOR £10M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78892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£1,101,472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3410712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56% uplift — and 30% above our best month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83296" y="2331720"/>
            <a:ext cx="3566160" cy="19202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9328" y="251460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PRIZE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339328" y="2788920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2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£25,000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39328" y="3410712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 Emily, Stuart, Cassie and Megan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617720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has to turn this week — two weeks in, we are 45% of the month we need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5184648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184648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and August ran at 53% of target. Q4 cannot look like that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5751576"/>
            <a:ext cx="11091672" cy="493776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751576"/>
            <a:ext cx="10515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and T3 carry the practice. Their capacity is the ceiling on all of this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Year to Date and the Road to £9m</dc:title>
  <dc:subject>PptxGenJS Presentation</dc:subject>
  <dc:creator>Crawford &amp; CO Surveyors</dc:creator>
  <cp:lastModifiedBy>Crawford &amp; CO Surveyors</cp:lastModifiedBy>
  <cp:revision>1</cp:revision>
  <dcterms:created xsi:type="dcterms:W3CDTF">2026-09-11T19:14:15Z</dcterms:created>
  <dcterms:modified xsi:type="dcterms:W3CDTF">2026-09-11T19:14:15Z</dcterms:modified>
</cp:coreProperties>
</file>