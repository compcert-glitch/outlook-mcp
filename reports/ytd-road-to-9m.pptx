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January</c:v>
                  </c:pt>
                  <c:pt idx="1">
                    <c:v>February</c:v>
                  </c:pt>
                  <c:pt idx="2">
                    <c:v>March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570657</c:v>
                </c:pt>
                <c:pt idx="1">
                  <c:v>793563</c:v>
                </c:pt>
                <c:pt idx="2">
                  <c:v>776760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January</c:v>
                  </c:pt>
                  <c:pt idx="1">
                    <c:v>February</c:v>
                  </c:pt>
                  <c:pt idx="2">
                    <c:v>March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816820</c:v>
                </c:pt>
                <c:pt idx="1">
                  <c:v>942513</c:v>
                </c:pt>
                <c:pt idx="2">
                  <c:v>1073518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April</c:v>
                  </c:pt>
                  <c:pt idx="1">
                    <c:v>May</c:v>
                  </c:pt>
                  <c:pt idx="2">
                    <c:v>June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822618</c:v>
                </c:pt>
                <c:pt idx="1">
                  <c:v>664828</c:v>
                </c:pt>
                <c:pt idx="2">
                  <c:v>847980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April</c:v>
                  </c:pt>
                  <c:pt idx="1">
                    <c:v>May</c:v>
                  </c:pt>
                  <c:pt idx="2">
                    <c:v>June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823994</c:v>
                </c:pt>
                <c:pt idx="1">
                  <c:v>851951</c:v>
                </c:pt>
                <c:pt idx="2">
                  <c:v>867492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  Jan–Mar</c:v>
                  </c:pt>
                  <c:pt idx="1">
                    <c:v>Q2  Apr–Jun</c:v>
                  </c:pt>
                  <c:pt idx="2">
                    <c:v>Q3  Jul–Aug + Sep to date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2094578</c:v>
                </c:pt>
                <c:pt idx="1">
                  <c:v>2335426</c:v>
                </c:pt>
                <c:pt idx="2">
                  <c:v>1404165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  Jan–Mar</c:v>
                  </c:pt>
                  <c:pt idx="1">
                    <c:v>Q2  Apr–Jun</c:v>
                  </c:pt>
                  <c:pt idx="2">
                    <c:v>Q3  Jul–Aug + Sep to date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2832851</c:v>
                </c:pt>
                <c:pt idx="1">
                  <c:v>2546143</c:v>
                </c:pt>
                <c:pt idx="2">
                  <c:v>2198809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Already 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Week 1</c:v>
                  </c:pt>
                  <c:pt idx="1">
                    <c:v>Week 2</c:v>
                  </c:pt>
                  <c:pt idx="2">
                    <c:v>Week 3</c:v>
                  </c:pt>
                  <c:pt idx="3">
                    <c:v>Week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246274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Still to invoice</c:v>
                </c:pt>
              </c:strCache>
            </c:strRef>
          </c:tx>
          <c:spPr>
            <a:solidFill>
              <a:srgbClr val="B58A00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Week 1</c:v>
                  </c:pt>
                  <c:pt idx="1">
                    <c:v>Week 2</c:v>
                  </c:pt>
                  <c:pt idx="2">
                    <c:v>Week 3</c:v>
                  </c:pt>
                  <c:pt idx="3">
                    <c:v>Week 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191543</c:v>
                </c:pt>
                <c:pt idx="2">
                  <c:v>191543</c:v>
                </c:pt>
                <c:pt idx="3">
                  <c:v>191542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570657</c:v>
                </c:pt>
                <c:pt idx="1">
                  <c:v>793563</c:v>
                </c:pt>
                <c:pt idx="2">
                  <c:v>776760</c:v>
                </c:pt>
                <c:pt idx="3">
                  <c:v>822618</c:v>
                </c:pt>
                <c:pt idx="4">
                  <c:v>664828</c:v>
                </c:pt>
                <c:pt idx="5">
                  <c:v>847980</c:v>
                </c:pt>
                <c:pt idx="6">
                  <c:v>670538</c:v>
                </c:pt>
                <c:pt idx="7">
                  <c:v>487353</c:v>
                </c:pt>
                <c:pt idx="8">
                  <c:v>246274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Required to reach £9m</c:v>
                </c:pt>
              </c:strCache>
            </c:strRef>
          </c:tx>
          <c:spPr>
            <a:solidFill>
              <a:srgbClr val="B58A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574628</c:v>
                </c:pt>
                <c:pt idx="9">
                  <c:v>820902</c:v>
                </c:pt>
                <c:pt idx="10">
                  <c:v>820902</c:v>
                </c:pt>
                <c:pt idx="11">
                  <c:v>820902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&lt;break time="0.7s"/&gt; This is where we stand for the year, &lt;break time="0.4s"/&gt; and what it takes to finish at nine million. &lt;break time="0.9s"/&gt; Five point eight eight million invoiced to the sixth of September. &lt;break time="0.6s"/&gt; Sixty five per cent of the way. &lt;break time="0.7s"/&gt; Three point one two million still to go.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Quarter one. &lt;break time="0.6s"/&gt; We invoiced two point zero nine million against a target of two point eight three million. &lt;break time="0.7s"/&gt; Seventy four per cent. &lt;break time="0.6s"/&gt; Seven hundred and thirty eight thousand behind. &lt;break time="0.8s"/&gt; The deepest hole we dug all year.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Quarter two was much better. &lt;break time="0.6s"/&gt; Two point three four million against two point five five. &lt;break time="0.6s"/&gt; Ninety two per cent. &lt;break time="0.7s"/&gt; April was within two thousand pounds of target, &lt;break time="0.4s"/&gt; and June was our best month of the year at eight hundred and forty eight thousand.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the three quarters side by side. &lt;break time="0.7s"/&gt; Seventy four per cent, &lt;break time="0.4s"/&gt; then ninety two, &lt;break time="0.4s"/&gt; then sixty four. &lt;break time="0.8s"/&gt; We recovered in quarter two and then gave it back in July and August. &lt;break time="0.7s"/&gt; Just over half of target between them.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here is the position. &lt;break time="0.6s"/&gt; Five point eight eight million banked, &lt;break time="0.5s"/&gt; three point one two million to go. &lt;break time="0.8s"/&gt; We have averaged seven hundred and four thousand a month. &lt;break time="0.6s"/&gt; We need eight hundred and twenty one thousand. &lt;break time="0.8s"/&gt; That is a sixteen per cent uplift. &lt;break time="0.5s"/&gt; Not a different business. &lt;break time="0.4s"/&gt; Sixteen per cent.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September is the last month of quarter three. &lt;break time="0.7s"/&gt; It needs eight hundred and twenty one thousand. &lt;break time="0.6s"/&gt; Two hundred and forty six thousand is already banked from week one. &lt;break time="0.7s"/&gt; That leaves five hundred and seventy five thousand across the three weeks left. &lt;break time="0.7s"/&gt; One hundred and ninety two thousand a week. &lt;break time="0.6s"/&gt; We beat that pace last week.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year in one picture. &lt;break time="0.7s"/&gt; Teal is what we have invoiced. &lt;break time="0.5s"/&gt; Gold is what is still required. &lt;break time="0.8s"/&gt; Eight hundred and twenty one thousand a month, &lt;break time="0.4s"/&gt; for four months. &lt;break time="0.8s"/&gt; Our best month this year was June, &lt;break time="0.4s"/&gt; at eight hundred and forty eight thousand. &lt;break time="0.7s"/&gt; So we need a June. &lt;break time="0.5s"/&gt; Four times over.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part worth staying for. &lt;break time="0.8s"/&gt; Nine million is the goal. &lt;break time="0.5s"/&gt; Everything above it is shared between the four of you. &lt;break time="0.6s"/&gt; Emily, &lt;break time="0.25s"/&gt; Stuart, &lt;break time="0.25s"/&gt; Cassie &lt;break time="0.25s"/&gt; and Megan. &lt;break time="0.9s"/&gt; For every two hundred thousand over nine million, &lt;break time="0.5s"/&gt; five thousand pounds each. &lt;break time="0.8s"/&gt; Nine point six million is fifteen thousand. &lt;break time="0.6s"/&gt; And ten million &lt;break time="0.4s"/&gt; is twenty five thousand pounds each. &lt;break time="0.8s"/&gt; Measured on invoiced fees.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be straight about ten million. &lt;break time="0.7s"/&gt; Nine million needs a sixteen per cent uplift. &lt;break time="0.6s"/&gt; Ten million needs fifty four per cent, &lt;break time="0.5s"/&gt; above the best month we have had. &lt;break time="0.8s"/&gt; It is a stretch. &lt;break time="0.4s"/&gt; It is not impossible. &lt;break time="0.7s"/&gt; But only if quarter four looks nothing like July and August. &lt;break time="0.8s"/&gt; Nine million is the commitment. &lt;break time="0.5s"/&gt; Ten million is the prize. &lt;break time="0.5s"/&gt;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CRAWFORD &amp; CO SURVEYORS   ·   2026 YEAR TO DATE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Road to £9 Million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3852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one and quarter two reviewed  ·  one month of quarter three left  ·  what the rest of the year must deliver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9900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 YEAR TO DATE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2644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£5.88m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886200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6 September — 65% of the way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9900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GOAL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2644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£9.00m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886200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31 December 2026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83296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9328" y="29900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TO INVOICE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32644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£3.12m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3886200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remaining 3.8 months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— year-to-date figures are transcribed from the fee board and should be confirmed against the accounts system before circulation.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QUARTER ONE  ·  JANUARY TO MARCH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slow start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finished £738,273 behind target. It is the deepest hole we dug all year, and it still shapes the year-end position.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05740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25856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INVOICED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53288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£2.09m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8549640" y="356616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7673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TARGET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0416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£2.83m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549640" y="507492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27608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ACHIEVED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5040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73.9%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QUARTER TWO  ·  APRIL TO JUNE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recovery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came in at 91.7% of target — a 17.8 point improvement on Q1, and April and June were both close to par.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05740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25856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INVOICED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53288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£2.34m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8549640" y="356616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7673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TARGET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0416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£2.55m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549640" y="507492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27608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ACHIEVED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5040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91.7%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YEAR SO FAR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months, quarter by quarter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nearly held par. Q3 has been the weakest stretch of the year — July and August together came in at 53% of target.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05740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25856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ACHIEVED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53288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73.9%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8549640" y="356616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7673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ACHIEVED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0416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91.7%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549640" y="507492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27608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SO FAR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5040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63.9%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£5.88m of £9m, with 3.8 months to go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Sixty five per cent of the goal banked, with roughly thirty per cent of the year left to run.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91672" cy="105156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7247263" cy="1051560"/>
          </a:xfrm>
          <a:prstGeom prst="rect">
            <a:avLst/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86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  £5.88m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51935" y="22860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TO INVOICE  £3.12m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65.3%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43032" y="34290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£9m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42245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JAN–AUG RUN RATE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449884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£704,287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51206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per month, on average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15968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42245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RATE NEEDED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49884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2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51206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every month, to 31 December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83296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39328" y="42245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UPLIFT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449884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+16%</a:t>
            </a:r>
            <a:endParaRPr lang="en-US" sz="2900" dirty="0"/>
          </a:p>
        </p:txBody>
      </p:sp>
      <p:sp>
        <p:nvSpPr>
          <p:cNvPr id="22" name="Text 20"/>
          <p:cNvSpPr txBox="1"/>
          <p:nvPr/>
        </p:nvSpPr>
        <p:spPr>
          <a:xfrm>
            <a:off x="8339328" y="51206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what we have averaged all year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LAST MONTH OF Q3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September has to deliver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needs £820,902. £246,274 is already banked from week one, which leaves £574,628 across the three weeks that remain.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94560"/>
          <a:ext cx="7680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194560"/>
            <a:ext cx="3090672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3957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SEPTEMBER NEEDS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6700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8549640" y="3749040"/>
            <a:ext cx="3090672" cy="123444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95020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BANKED, WEEK 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22452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£246,274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8549640" y="5120640"/>
            <a:ext cx="3090672" cy="123444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32180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WEEK, W2–W4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9612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£191,543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months at £820,902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 we have to clear every month from here. Our best month this year was June at £847,980 — so this is a June, four times over.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94560"/>
          <a:ext cx="11091672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13248"/>
            <a:ext cx="3566160" cy="102412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4672" y="56144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 MONTH SO FAR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588873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£847,980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315968" y="5413248"/>
            <a:ext cx="3566160" cy="102412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0" y="56144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NEEDED EACH MONTH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588873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8083296" y="5413248"/>
            <a:ext cx="3566160" cy="102412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39328" y="56144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BELOW OUR BEST MONTH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339328" y="588873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£27,078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WE BEAT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£5,000 each for every £200,000 over £9m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Emily, Stuart, Cassie and Megan. Nine million is the goal — everything above it is shared, and it steps up every two hundred thousand.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£9.2m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£5,000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£20,000 in total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07208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4368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£9.4m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916936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£10,000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2944368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916936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£40,000 in total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65776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02936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£9.6m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75504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£15,000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5202936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175504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£60,000 in total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24344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61504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£9.8m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34072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£20,000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7461504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434072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£80,000 in total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582912" y="2331720"/>
            <a:ext cx="2103120" cy="2240280"/>
          </a:xfrm>
          <a:prstGeom prst="rect">
            <a:avLst/>
          </a:prstGeom>
          <a:solidFill>
            <a:srgbClr val="B58A00"/>
          </a:solidFill>
          <a:ln w="12700">
            <a:solidFill>
              <a:srgbClr val="B58A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20072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£10.0m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£25,000</a:t>
            </a:r>
            <a:endParaRPr lang="en-US" sz="3100" dirty="0"/>
          </a:p>
        </p:txBody>
      </p:sp>
      <p:sp>
        <p:nvSpPr>
          <p:cNvPr id="28" name="Text 26"/>
          <p:cNvSpPr txBox="1"/>
          <p:nvPr/>
        </p:nvSpPr>
        <p:spPr>
          <a:xfrm>
            <a:off x="9720072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0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£100,000 in total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846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million means £25,000 each — £100,000 shared between the four of you, out of £1,000,000 of fee income above the goal.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fees invoiced, not cash collected. The scheme pays 10% of everything above £9m at every rung. Payment date to be confirmed.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STRETCH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ten million actually takes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one million pounds above the goal. Here is the size of it, honestly, so we go after it with our eyes open.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5328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MONTH FOR £9M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8072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4290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16% uplift on our year average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5328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MONTH FOR £10M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8072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£1,084,060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4290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54% uplift — and 28% above our best month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83296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9328" y="25328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PRIZE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28072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£25,000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34290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 Emily, Stuart, Cassie and Megan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617720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Q1 habits — that quarter cost us £738,273 and we never got it back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5184648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184648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and August ran at 53% of target. Q4 cannot look like that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5751576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751576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T6 and T3 carry the practice. Their capacity is the ceiling on all of this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Year to Date and the Road to £9m</dc:title>
  <dc:subject>PptxGenJS Presentation</dc:subject>
  <dc:creator>Crawford &amp; CO Surveyors</dc:creator>
  <cp:lastModifiedBy>Crawford &amp; CO Surveyors</cp:lastModifiedBy>
  <cp:revision>1</cp:revision>
  <dcterms:created xsi:type="dcterms:W3CDTF">2026-09-07T08:06:25Z</dcterms:created>
  <dcterms:modified xsi:type="dcterms:W3CDTF">2026-09-07T08:06:25Z</dcterms:modified>
</cp:coreProperties>
</file>