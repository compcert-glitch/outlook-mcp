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2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3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4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5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Invoiced</c:v>
                </c:pt>
              </c:strCache>
            </c:strRef>
          </c:tx>
          <c:spPr>
            <a:solidFill>
              <a:srgbClr val="07717A"/>
            </a:solidFill>
            <a:effectLst/>
          </c:spPr>
          <c:invertIfNegative val="0"/>
          <c:dLbls>
            <c:numFmt formatCode="£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4201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January</c:v>
                  </c:pt>
                  <c:pt idx="1">
                    <c:v>February</c:v>
                  </c:pt>
                  <c:pt idx="2">
                    <c:v>March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570657</c:v>
                </c:pt>
                <c:pt idx="1">
                  <c:v>793563</c:v>
                </c:pt>
                <c:pt idx="2">
                  <c:v>776760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Target</c:v>
                </c:pt>
              </c:strCache>
            </c:strRef>
          </c:tx>
          <c:spPr>
            <a:solidFill>
              <a:srgbClr val="D5DCDA"/>
            </a:solidFill>
            <a:effectLst/>
          </c:spPr>
          <c:invertIfNegative val="0"/>
          <c:dLbls>
            <c:numFmt formatCode="£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4201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January</c:v>
                  </c:pt>
                  <c:pt idx="1">
                    <c:v>February</c:v>
                  </c:pt>
                  <c:pt idx="2">
                    <c:v>March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816820</c:v>
                </c:pt>
                <c:pt idx="1">
                  <c:v>942513</c:v>
                </c:pt>
                <c:pt idx="2">
                  <c:v>1073518</c:v>
                </c:pt>
              </c:numCache>
            </c:numRef>
          </c:val>
        </c:ser>
        <c:dLbls>
          <c:numFmt formatCode="£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4201E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50" b="0" i="0" u="none" strike="noStrike">
                <a:solidFill>
                  <a:srgbClr val="6B7A7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200000"/>
        </c:scaling>
        <c:delete val="0"/>
        <c:axPos val="l"/>
        <c:majorGridlines>
          <c:spPr>
            <a:ln w="12700" cap="flat">
              <a:solidFill>
                <a:srgbClr val="D5DCDA"/>
              </a:solidFill>
              <a:prstDash val="solid"/>
              <a:round/>
            </a:ln>
          </c:spPr>
        </c:majorGridlines>
        <c:numFmt formatCode="£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A7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50">
              <a:solidFill>
                <a:srgbClr val="6B7A7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Invoiced</c:v>
                </c:pt>
              </c:strCache>
            </c:strRef>
          </c:tx>
          <c:spPr>
            <a:solidFill>
              <a:srgbClr val="07717A"/>
            </a:solidFill>
            <a:effectLst/>
          </c:spPr>
          <c:invertIfNegative val="0"/>
          <c:dLbls>
            <c:numFmt formatCode="£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4201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April</c:v>
                  </c:pt>
                  <c:pt idx="1">
                    <c:v>May</c:v>
                  </c:pt>
                  <c:pt idx="2">
                    <c:v>June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822618</c:v>
                </c:pt>
                <c:pt idx="1">
                  <c:v>664828</c:v>
                </c:pt>
                <c:pt idx="2">
                  <c:v>847980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Target</c:v>
                </c:pt>
              </c:strCache>
            </c:strRef>
          </c:tx>
          <c:spPr>
            <a:solidFill>
              <a:srgbClr val="D5DCDA"/>
            </a:solidFill>
            <a:effectLst/>
          </c:spPr>
          <c:invertIfNegative val="0"/>
          <c:dLbls>
            <c:numFmt formatCode="£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4201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April</c:v>
                  </c:pt>
                  <c:pt idx="1">
                    <c:v>May</c:v>
                  </c:pt>
                  <c:pt idx="2">
                    <c:v>June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823994</c:v>
                </c:pt>
                <c:pt idx="1">
                  <c:v>851951</c:v>
                </c:pt>
                <c:pt idx="2">
                  <c:v>867492</c:v>
                </c:pt>
              </c:numCache>
            </c:numRef>
          </c:val>
        </c:ser>
        <c:dLbls>
          <c:numFmt formatCode="£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4201E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50" b="0" i="0" u="none" strike="noStrike">
                <a:solidFill>
                  <a:srgbClr val="6B7A7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0000"/>
        </c:scaling>
        <c:delete val="0"/>
        <c:axPos val="l"/>
        <c:majorGridlines>
          <c:spPr>
            <a:ln w="12700" cap="flat">
              <a:solidFill>
                <a:srgbClr val="D5DCDA"/>
              </a:solidFill>
              <a:prstDash val="solid"/>
              <a:round/>
            </a:ln>
          </c:spPr>
        </c:majorGridlines>
        <c:numFmt formatCode="£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A7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50">
              <a:solidFill>
                <a:srgbClr val="6B7A7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Invoiced</c:v>
                </c:pt>
              </c:strCache>
            </c:strRef>
          </c:tx>
          <c:spPr>
            <a:solidFill>
              <a:srgbClr val="07717A"/>
            </a:solidFill>
            <a:effectLst/>
          </c:spPr>
          <c:invertIfNegative val="0"/>
          <c:dLbls>
            <c:numFmt formatCode="£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4201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Q1  Jan–Mar</c:v>
                  </c:pt>
                  <c:pt idx="1">
                    <c:v>Q2  Apr–Jun</c:v>
                  </c:pt>
                  <c:pt idx="2">
                    <c:v>Q3  Jul–Aug + Sep to date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2094578</c:v>
                </c:pt>
                <c:pt idx="1">
                  <c:v>2335426</c:v>
                </c:pt>
                <c:pt idx="2">
                  <c:v>1404165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Target</c:v>
                </c:pt>
              </c:strCache>
            </c:strRef>
          </c:tx>
          <c:spPr>
            <a:solidFill>
              <a:srgbClr val="D5DCDA"/>
            </a:solidFill>
            <a:effectLst/>
          </c:spPr>
          <c:invertIfNegative val="0"/>
          <c:dLbls>
            <c:numFmt formatCode="£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4201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Q1  Jan–Mar</c:v>
                  </c:pt>
                  <c:pt idx="1">
                    <c:v>Q2  Apr–Jun</c:v>
                  </c:pt>
                  <c:pt idx="2">
                    <c:v>Q3  Jul–Aug + Sep to date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2832851</c:v>
                </c:pt>
                <c:pt idx="1">
                  <c:v>2546143</c:v>
                </c:pt>
                <c:pt idx="2">
                  <c:v>2198809</c:v>
                </c:pt>
              </c:numCache>
            </c:numRef>
          </c:val>
        </c:ser>
        <c:dLbls>
          <c:numFmt formatCode="£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4201E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50" b="0" i="0" u="none" strike="noStrike">
                <a:solidFill>
                  <a:srgbClr val="6B7A7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200000"/>
        </c:scaling>
        <c:delete val="0"/>
        <c:axPos val="l"/>
        <c:majorGridlines>
          <c:spPr>
            <a:ln w="12700" cap="flat">
              <a:solidFill>
                <a:srgbClr val="D5DCDA"/>
              </a:solidFill>
              <a:prstDash val="solid"/>
              <a:round/>
            </a:ln>
          </c:spPr>
        </c:majorGridlines>
        <c:numFmt formatCode="£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A7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50">
              <a:solidFill>
                <a:srgbClr val="6B7A7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Already invoiced</c:v>
                </c:pt>
              </c:strCache>
            </c:strRef>
          </c:tx>
          <c:spPr>
            <a:solidFill>
              <a:srgbClr val="07717A"/>
            </a:solidFill>
            <a:effectLst/>
          </c:spPr>
          <c:invertIfNegative val="0"/>
          <c:dLbls>
            <c:numFmt formatCode="£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Week 1</c:v>
                  </c:pt>
                  <c:pt idx="1">
                    <c:v>Week 2</c:v>
                  </c:pt>
                  <c:pt idx="2">
                    <c:v>Week 3</c:v>
                  </c:pt>
                  <c:pt idx="3">
                    <c:v>Week 4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246274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Still to invoice</c:v>
                </c:pt>
              </c:strCache>
            </c:strRef>
          </c:tx>
          <c:spPr>
            <a:solidFill>
              <a:srgbClr val="B58A00"/>
            </a:solidFill>
            <a:effectLst/>
          </c:spPr>
          <c:invertIfNegative val="0"/>
          <c:dLbls>
            <c:numFmt formatCode="£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Week 1</c:v>
                  </c:pt>
                  <c:pt idx="1">
                    <c:v>Week 2</c:v>
                  </c:pt>
                  <c:pt idx="2">
                    <c:v>Week 3</c:v>
                  </c:pt>
                  <c:pt idx="3">
                    <c:v>Week 4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</c:v>
                </c:pt>
                <c:pt idx="1">
                  <c:v>191543</c:v>
                </c:pt>
                <c:pt idx="2">
                  <c:v>191543</c:v>
                </c:pt>
                <c:pt idx="3">
                  <c:v>191542</c:v>
                </c:pt>
              </c:numCache>
            </c:numRef>
          </c:val>
        </c:ser>
        <c:dLbls>
          <c:numFmt formatCode="£#,##0" sourceLinked="0"/>
          <c:txPr>
            <a:bodyPr/>
            <a:lstStyle/>
            <a:p>
              <a:pPr>
                <a:defRPr b="0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50" b="0" i="0" u="none" strike="noStrike">
                <a:solidFill>
                  <a:srgbClr val="6B7A7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00000"/>
        </c:scaling>
        <c:delete val="0"/>
        <c:axPos val="l"/>
        <c:majorGridlines>
          <c:spPr>
            <a:ln w="12700" cap="flat">
              <a:solidFill>
                <a:srgbClr val="D5DCDA"/>
              </a:solidFill>
              <a:prstDash val="solid"/>
              <a:round/>
            </a:ln>
          </c:spPr>
        </c:majorGridlines>
        <c:numFmt formatCode="£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A7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50">
              <a:solidFill>
                <a:srgbClr val="6B7A7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Invoiced</c:v>
                </c:pt>
              </c:strCache>
            </c:strRef>
          </c:tx>
          <c:spPr>
            <a:solidFill>
              <a:srgbClr val="0771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4201E"/>
                    </a:solidFill>
                    <a:latin typeface="Calibr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570657</c:v>
                </c:pt>
                <c:pt idx="1">
                  <c:v>793563</c:v>
                </c:pt>
                <c:pt idx="2">
                  <c:v>776760</c:v>
                </c:pt>
                <c:pt idx="3">
                  <c:v>822618</c:v>
                </c:pt>
                <c:pt idx="4">
                  <c:v>664828</c:v>
                </c:pt>
                <c:pt idx="5">
                  <c:v>847980</c:v>
                </c:pt>
                <c:pt idx="6">
                  <c:v>670538</c:v>
                </c:pt>
                <c:pt idx="7">
                  <c:v>487353</c:v>
                </c:pt>
                <c:pt idx="8">
                  <c:v>246274</c:v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Required to reach £9m</c:v>
                </c:pt>
              </c:strCache>
            </c:strRef>
          </c:tx>
          <c:spPr>
            <a:solidFill>
              <a:srgbClr val="B58A0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4201E"/>
                    </a:solidFill>
                    <a:latin typeface="Calibr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>574628</c:v>
                </c:pt>
                <c:pt idx="9">
                  <c:v>820902</c:v>
                </c:pt>
                <c:pt idx="10">
                  <c:v>820902</c:v>
                </c:pt>
                <c:pt idx="11">
                  <c:v>820902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4201E"/>
                  </a:solidFill>
                  <a:latin typeface="Calibri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50" b="0" i="0" u="none" strike="noStrike">
                <a:solidFill>
                  <a:srgbClr val="6B7A7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900000"/>
        </c:scaling>
        <c:delete val="0"/>
        <c:axPos val="l"/>
        <c:majorGridlines>
          <c:spPr>
            <a:ln w="12700" cap="flat">
              <a:solidFill>
                <a:srgbClr val="D5DCDA"/>
              </a:solidFill>
              <a:prstDash val="solid"/>
              <a:round/>
            </a:ln>
          </c:spPr>
        </c:majorGridlines>
        <c:numFmt formatCode="£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A7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50">
              <a:solidFill>
                <a:srgbClr val="6B7A7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morning. &lt;break time="0.7s"/&gt; This is where we stand for the year, &lt;break time="0.4s"/&gt; and what it takes to finish at nine million. &lt;break time="0.9s"/&gt; Five point eight eight million invoiced to the sixth of September. &lt;break time="0.6s"/&gt; Sixty five per cent of the way. &lt;break time="0.7s"/&gt; Three point one two million still to go. &lt;break time="0.9s"/&gt;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Quarter one. &lt;break time="0.6s"/&gt; We invoiced two point zero nine million against a target of two point eight three million. &lt;break time="0.7s"/&gt; Seventy four per cent. &lt;break time="0.6s"/&gt; Seven hundred and thirty eight thousand behind. &lt;break time="0.8s"/&gt; The deepest hole we dug all year. &lt;break time="0.9s"/&gt;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Quarter two was much better. &lt;break time="0.6s"/&gt; Two point three four million against two point five five. &lt;break time="0.6s"/&gt; Ninety two per cent. &lt;break time="0.7s"/&gt; April was within two thousand pounds of target, &lt;break time="0.4s"/&gt; and June was our best month of the year at eight hundred and forty eight thousand. &lt;break time="0.9s"/&gt;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Put the three quarters side by side. &lt;break time="0.7s"/&gt; Seventy four per cent, &lt;break time="0.4s"/&gt; then ninety two, &lt;break time="0.4s"/&gt; then sixty four. &lt;break time="0.8s"/&gt; We recovered in quarter two and then gave it back in July and August. &lt;break time="0.7s"/&gt; Just over half of target between them. &lt;break time="0.9s"/&gt;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 here is the position. &lt;break time="0.6s"/&gt; Five point eight eight million banked, &lt;break time="0.5s"/&gt; three point one two million to go. &lt;break time="0.8s"/&gt; We have averaged seven hundred and four thousand a month. &lt;break time="0.6s"/&gt; We need eight hundred and twenty one thousand. &lt;break time="0.8s"/&gt; That is a sixteen per cent uplift. &lt;break time="0.5s"/&gt; Not a different business. &lt;break time="0.4s"/&gt; Sixteen per cent. &lt;break time="0.9s"/&gt;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September is the last month of quarter three. &lt;break time="0.7s"/&gt; It needs eight hundred and twenty one thousand. &lt;break time="0.6s"/&gt; Two hundred and forty six thousand is already banked from week one. &lt;break time="0.7s"/&gt; That leaves five hundred and seventy five thousand across the three weeks left. &lt;break time="0.7s"/&gt; One hundred and ninety two thousand a week. &lt;break time="0.6s"/&gt; We beat that pace last week. &lt;break time="0.9s"/&gt;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whole year in one picture. &lt;break time="0.7s"/&gt; Teal is what we have invoiced. &lt;break time="0.5s"/&gt; Gold is what is still required. &lt;break time="0.8s"/&gt; Eight hundred and twenty one thousand a month, &lt;break time="0.4s"/&gt; for four months. &lt;break time="0.8s"/&gt; Our best month this year was June, &lt;break time="0.4s"/&gt; at eight hundred and forty eight thousand. &lt;break time="0.7s"/&gt; So we need a June. &lt;break time="0.5s"/&gt; Four times over. &lt;break time="0.9s"/&gt;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Now the part worth staying for. &lt;break time="0.8s"/&gt; Nine million is the goal. &lt;break time="0.5s"/&gt; Everything above it is shared between the four of you. &lt;break time="0.6s"/&gt; Emily, &lt;break time="0.25s"/&gt; Stuart, &lt;break time="0.25s"/&gt; Cassie &lt;break time="0.25s"/&gt; and Megan. &lt;break time="0.9s"/&gt; For every two hundred thousand over nine million, &lt;break time="0.5s"/&gt; five thousand pounds each. &lt;break time="0.8s"/&gt; Nine point six million is fifteen thousand. &lt;break time="0.6s"/&gt; And ten million &lt;break time="0.4s"/&gt; is twenty five thousand pounds each. &lt;break time="0.8s"/&gt; Measured on invoiced fees. &lt;break time="0.9s"/&gt;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Let us be straight about ten million. &lt;break time="0.7s"/&gt; Nine million needs a sixteen per cent uplift. &lt;break time="0.6s"/&gt; Ten million needs fifty four per cent, &lt;break time="0.5s"/&gt; above the best month we have had. &lt;break time="0.8s"/&gt; It is a stretch. &lt;break time="0.4s"/&gt; It is not impossible. &lt;break time="0.7s"/&gt; But only if quarter four looks nothing like July and August. &lt;break time="0.8s"/&gt; Nine million is the commitment. &lt;break time="0.5s"/&gt; Ten million is the prize. &lt;break time="0.5s"/&gt; Thank you.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20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6692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FA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CRAWFORD &amp; CO SURVEYORS   ·   2026 YEAR TO DATE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87552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E7EE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Road to £9 Million</a:t>
            </a:r>
            <a:endParaRPr lang="en-US" sz="4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938528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F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Quarter one and quarter two reviewed  ·  one month of quarter three left  ·  what the rest of the year must deliver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2788920"/>
            <a:ext cx="3566160" cy="1783080"/>
          </a:xfrm>
          <a:prstGeom prst="rect">
            <a:avLst/>
          </a:prstGeom>
          <a:solidFill>
            <a:srgbClr val="1B2E2C"/>
          </a:solidFill>
          <a:ln w="12700">
            <a:solidFill>
              <a:srgbClr val="24403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04672" y="2990088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8FA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INVOICED YEAR TO DATE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804672" y="3264408"/>
            <a:ext cx="3154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7EE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£5.88m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804672" y="3886200"/>
            <a:ext cx="31089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6 September — 65% of the way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15968" y="2788920"/>
            <a:ext cx="3566160" cy="1783080"/>
          </a:xfrm>
          <a:prstGeom prst="rect">
            <a:avLst/>
          </a:prstGeom>
          <a:solidFill>
            <a:srgbClr val="1B2E2C"/>
          </a:solidFill>
          <a:ln w="12700">
            <a:solidFill>
              <a:srgbClr val="24403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0" y="2990088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8FA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GOAL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4572000" y="3264408"/>
            <a:ext cx="3154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7EE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£9.00m</a:t>
            </a:r>
            <a:endParaRPr lang="en-US" sz="34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0" y="3886200"/>
            <a:ext cx="31089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31 December 2026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083296" y="2788920"/>
            <a:ext cx="3566160" cy="1783080"/>
          </a:xfrm>
          <a:prstGeom prst="rect">
            <a:avLst/>
          </a:prstGeom>
          <a:solidFill>
            <a:srgbClr val="1B2E2C"/>
          </a:solidFill>
          <a:ln w="12700">
            <a:solidFill>
              <a:srgbClr val="24403D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339328" y="2990088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8FA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STILL TO INVOICE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8339328" y="3264408"/>
            <a:ext cx="3154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D2A0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£3.12m</a:t>
            </a:r>
            <a:endParaRPr lang="en-US" sz="3400" dirty="0"/>
          </a:p>
        </p:txBody>
      </p:sp>
      <p:sp>
        <p:nvSpPr>
          <p:cNvPr id="16" name="Text 14"/>
          <p:cNvSpPr txBox="1"/>
          <p:nvPr/>
        </p:nvSpPr>
        <p:spPr>
          <a:xfrm>
            <a:off x="8339328" y="3886200"/>
            <a:ext cx="31089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the remaining 3.8 months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5989320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F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Provisional — year-to-date figures are transcribed from the fee board and should be confirmed against the accounts system before circulation.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0058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B7A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QUARTER ONE  ·  JANUARY TO MARCH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0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slow start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35024"/>
            <a:ext cx="106070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35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finished £738,273 behind target. It is the deepest hole we dug all year, and it still shapes the year-end position.</a:t>
            </a:r>
            <a:endParaRPr lang="en-US" sz="15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2057400"/>
          <a:ext cx="768096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8549640" y="2057400"/>
            <a:ext cx="3090672" cy="1371600"/>
          </a:xfrm>
          <a:prstGeom prst="rect">
            <a:avLst/>
          </a:prstGeom>
          <a:solidFill>
            <a:srgbClr val="EEF1F0"/>
          </a:solidFill>
          <a:ln w="12700">
            <a:solidFill>
              <a:srgbClr val="D5DCDA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805672" y="2258568"/>
            <a:ext cx="26334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6B7A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Q1 INVOICED</a:t>
            </a:r>
            <a:endParaRPr lang="en-US" sz="1050" dirty="0"/>
          </a:p>
        </p:txBody>
      </p:sp>
      <p:sp>
        <p:nvSpPr>
          <p:cNvPr id="8" name="Text 5"/>
          <p:cNvSpPr txBox="1"/>
          <p:nvPr/>
        </p:nvSpPr>
        <p:spPr>
          <a:xfrm>
            <a:off x="8805672" y="2532888"/>
            <a:ext cx="26791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20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£2.09m</a:t>
            </a:r>
            <a:endParaRPr lang="en-US" sz="2800" dirty="0"/>
          </a:p>
        </p:txBody>
      </p:sp>
      <p:sp>
        <p:nvSpPr>
          <p:cNvPr id="9" name="Shape 6"/>
          <p:cNvSpPr/>
          <p:nvPr/>
        </p:nvSpPr>
        <p:spPr>
          <a:xfrm>
            <a:off x="8549640" y="3566160"/>
            <a:ext cx="3090672" cy="1371600"/>
          </a:xfrm>
          <a:prstGeom prst="rect">
            <a:avLst/>
          </a:prstGeom>
          <a:solidFill>
            <a:srgbClr val="EEF1F0"/>
          </a:solidFill>
          <a:ln w="12700">
            <a:solidFill>
              <a:srgbClr val="D5DCDA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805672" y="3767328"/>
            <a:ext cx="26334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6B7A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Q1 TARGET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8805672" y="4041648"/>
            <a:ext cx="26791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20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£2.83m</a:t>
            </a:r>
            <a:endParaRPr lang="en-US" sz="2800" dirty="0"/>
          </a:p>
        </p:txBody>
      </p:sp>
      <p:sp>
        <p:nvSpPr>
          <p:cNvPr id="12" name="Shape 9"/>
          <p:cNvSpPr/>
          <p:nvPr/>
        </p:nvSpPr>
        <p:spPr>
          <a:xfrm>
            <a:off x="8549640" y="5074920"/>
            <a:ext cx="3090672" cy="1371600"/>
          </a:xfrm>
          <a:prstGeom prst="rect">
            <a:avLst/>
          </a:prstGeom>
          <a:solidFill>
            <a:srgbClr val="EEF1F0"/>
          </a:solidFill>
          <a:ln w="12700">
            <a:solidFill>
              <a:srgbClr val="D5DCDA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805672" y="5276088"/>
            <a:ext cx="26334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6B7A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ACHIEVED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8805672" y="5550408"/>
            <a:ext cx="26791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AD23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73.9%</a:t>
            </a:r>
            <a:endParaRPr lang="en-US" sz="2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0058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B7A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QUARTER TWO  ·  APRIL TO JUNE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0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recovery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35024"/>
            <a:ext cx="106070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35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 came in at 91.7% of target — a 17.8 point improvement on Q1, and April and June were both close to par.</a:t>
            </a:r>
            <a:endParaRPr lang="en-US" sz="15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2057400"/>
          <a:ext cx="768096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8549640" y="2057400"/>
            <a:ext cx="3090672" cy="1371600"/>
          </a:xfrm>
          <a:prstGeom prst="rect">
            <a:avLst/>
          </a:prstGeom>
          <a:solidFill>
            <a:srgbClr val="EEF1F0"/>
          </a:solidFill>
          <a:ln w="12700">
            <a:solidFill>
              <a:srgbClr val="D5DCDA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805672" y="2258568"/>
            <a:ext cx="26334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6B7A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Q2 INVOICED</a:t>
            </a:r>
            <a:endParaRPr lang="en-US" sz="1050" dirty="0"/>
          </a:p>
        </p:txBody>
      </p:sp>
      <p:sp>
        <p:nvSpPr>
          <p:cNvPr id="8" name="Text 5"/>
          <p:cNvSpPr txBox="1"/>
          <p:nvPr/>
        </p:nvSpPr>
        <p:spPr>
          <a:xfrm>
            <a:off x="8805672" y="2532888"/>
            <a:ext cx="26791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20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£2.34m</a:t>
            </a:r>
            <a:endParaRPr lang="en-US" sz="2800" dirty="0"/>
          </a:p>
        </p:txBody>
      </p:sp>
      <p:sp>
        <p:nvSpPr>
          <p:cNvPr id="9" name="Shape 6"/>
          <p:cNvSpPr/>
          <p:nvPr/>
        </p:nvSpPr>
        <p:spPr>
          <a:xfrm>
            <a:off x="8549640" y="3566160"/>
            <a:ext cx="3090672" cy="1371600"/>
          </a:xfrm>
          <a:prstGeom prst="rect">
            <a:avLst/>
          </a:prstGeom>
          <a:solidFill>
            <a:srgbClr val="EEF1F0"/>
          </a:solidFill>
          <a:ln w="12700">
            <a:solidFill>
              <a:srgbClr val="D5DCDA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805672" y="3767328"/>
            <a:ext cx="26334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6B7A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Q2 TARGET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8805672" y="4041648"/>
            <a:ext cx="26791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20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£2.55m</a:t>
            </a:r>
            <a:endParaRPr lang="en-US" sz="2800" dirty="0"/>
          </a:p>
        </p:txBody>
      </p:sp>
      <p:sp>
        <p:nvSpPr>
          <p:cNvPr id="12" name="Shape 9"/>
          <p:cNvSpPr/>
          <p:nvPr/>
        </p:nvSpPr>
        <p:spPr>
          <a:xfrm>
            <a:off x="8549640" y="5074920"/>
            <a:ext cx="3090672" cy="1371600"/>
          </a:xfrm>
          <a:prstGeom prst="rect">
            <a:avLst/>
          </a:prstGeom>
          <a:solidFill>
            <a:srgbClr val="EEF1F0"/>
          </a:solidFill>
          <a:ln w="12700">
            <a:solidFill>
              <a:srgbClr val="D5DCDA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805672" y="5276088"/>
            <a:ext cx="26334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6B7A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ACHIEVED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8805672" y="5550408"/>
            <a:ext cx="26791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771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91.7%</a:t>
            </a:r>
            <a:endParaRPr lang="en-US" sz="2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0058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B7A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YEAR SO FAR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0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Eight months, quarter by quarter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35024"/>
            <a:ext cx="106070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35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 nearly held par. Q3 has been the weakest stretch of the year — July and August together came in at 53% of target.</a:t>
            </a:r>
            <a:endParaRPr lang="en-US" sz="15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2057400"/>
          <a:ext cx="768096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8549640" y="2057400"/>
            <a:ext cx="3090672" cy="1371600"/>
          </a:xfrm>
          <a:prstGeom prst="rect">
            <a:avLst/>
          </a:prstGeom>
          <a:solidFill>
            <a:srgbClr val="EEF1F0"/>
          </a:solidFill>
          <a:ln w="12700">
            <a:solidFill>
              <a:srgbClr val="D5DCDA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805672" y="2258568"/>
            <a:ext cx="26334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6B7A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Q1 ACHIEVED</a:t>
            </a:r>
            <a:endParaRPr lang="en-US" sz="1050" dirty="0"/>
          </a:p>
        </p:txBody>
      </p:sp>
      <p:sp>
        <p:nvSpPr>
          <p:cNvPr id="8" name="Text 5"/>
          <p:cNvSpPr txBox="1"/>
          <p:nvPr/>
        </p:nvSpPr>
        <p:spPr>
          <a:xfrm>
            <a:off x="8805672" y="2532888"/>
            <a:ext cx="26791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AD23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73.9%</a:t>
            </a:r>
            <a:endParaRPr lang="en-US" sz="2800" dirty="0"/>
          </a:p>
        </p:txBody>
      </p:sp>
      <p:sp>
        <p:nvSpPr>
          <p:cNvPr id="9" name="Shape 6"/>
          <p:cNvSpPr/>
          <p:nvPr/>
        </p:nvSpPr>
        <p:spPr>
          <a:xfrm>
            <a:off x="8549640" y="3566160"/>
            <a:ext cx="3090672" cy="1371600"/>
          </a:xfrm>
          <a:prstGeom prst="rect">
            <a:avLst/>
          </a:prstGeom>
          <a:solidFill>
            <a:srgbClr val="EEF1F0"/>
          </a:solidFill>
          <a:ln w="12700">
            <a:solidFill>
              <a:srgbClr val="D5DCDA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805672" y="3767328"/>
            <a:ext cx="26334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6B7A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Q2 ACHIEVED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8805672" y="4041648"/>
            <a:ext cx="26791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771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91.7%</a:t>
            </a:r>
            <a:endParaRPr lang="en-US" sz="2800" dirty="0"/>
          </a:p>
        </p:txBody>
      </p:sp>
      <p:sp>
        <p:nvSpPr>
          <p:cNvPr id="12" name="Shape 9"/>
          <p:cNvSpPr/>
          <p:nvPr/>
        </p:nvSpPr>
        <p:spPr>
          <a:xfrm>
            <a:off x="8549640" y="5074920"/>
            <a:ext cx="3090672" cy="1371600"/>
          </a:xfrm>
          <a:prstGeom prst="rect">
            <a:avLst/>
          </a:prstGeom>
          <a:solidFill>
            <a:srgbClr val="EEF1F0"/>
          </a:solidFill>
          <a:ln w="12700">
            <a:solidFill>
              <a:srgbClr val="D5DCDA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805672" y="5276088"/>
            <a:ext cx="26334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6B7A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Q3 SO FAR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8805672" y="5550408"/>
            <a:ext cx="26791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AD23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63.9%</a:t>
            </a:r>
            <a:endParaRPr lang="en-US" sz="2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0058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B7A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 WE STAND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0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£5.88m of £9m, with 3.8 months to go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35024"/>
            <a:ext cx="106070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35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Sixty five per cent of the goal banked, with roughly thirty per cent of the year left to run.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286000"/>
            <a:ext cx="11091672" cy="1051560"/>
          </a:xfrm>
          <a:prstGeom prst="rect">
            <a:avLst/>
          </a:prstGeom>
          <a:solidFill>
            <a:srgbClr val="EEF1F0"/>
          </a:solidFill>
          <a:ln w="12700">
            <a:solidFill>
              <a:srgbClr val="D5DCD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2286000"/>
            <a:ext cx="7247263" cy="1051560"/>
          </a:xfrm>
          <a:prstGeom prst="rect">
            <a:avLst/>
          </a:prstGeom>
          <a:solidFill>
            <a:srgbClr val="07717A"/>
          </a:solidFill>
          <a:ln w="12700">
            <a:solidFill>
              <a:srgbClr val="07717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04672" y="2286000"/>
            <a:ext cx="4572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INVOICED  £5.88m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8051935" y="2286000"/>
            <a:ext cx="3566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58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STILL TO INVOICE  £3.12m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42900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7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65.3%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543032" y="342900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6B7A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£9m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4023360"/>
            <a:ext cx="3566160" cy="1828800"/>
          </a:xfrm>
          <a:prstGeom prst="rect">
            <a:avLst/>
          </a:prstGeom>
          <a:solidFill>
            <a:srgbClr val="EEF1F0"/>
          </a:solidFill>
          <a:ln w="12700">
            <a:solidFill>
              <a:srgbClr val="D5DCD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04672" y="4224528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6B7A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JAN–AUG RUN RATE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804672" y="4498848"/>
            <a:ext cx="3154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20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£704,287</a:t>
            </a:r>
            <a:endParaRPr lang="en-US" sz="2900" dirty="0"/>
          </a:p>
        </p:txBody>
      </p:sp>
      <p:sp>
        <p:nvSpPr>
          <p:cNvPr id="14" name="Text 12"/>
          <p:cNvSpPr txBox="1"/>
          <p:nvPr/>
        </p:nvSpPr>
        <p:spPr>
          <a:xfrm>
            <a:off x="804672" y="512064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5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invoiced per month, on average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315968" y="4023360"/>
            <a:ext cx="3566160" cy="1828800"/>
          </a:xfrm>
          <a:prstGeom prst="rect">
            <a:avLst/>
          </a:prstGeom>
          <a:solidFill>
            <a:srgbClr val="EEF1F0"/>
          </a:solidFill>
          <a:ln w="12700">
            <a:solidFill>
              <a:srgbClr val="D5DCD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572000" y="4224528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6B7A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 RATE NEEDED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4572000" y="4498848"/>
            <a:ext cx="3154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B58A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£820,902</a:t>
            </a:r>
            <a:endParaRPr lang="en-US" sz="29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0" y="512064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5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month, every month, to 31 December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8083296" y="4023360"/>
            <a:ext cx="3566160" cy="1828800"/>
          </a:xfrm>
          <a:prstGeom prst="rect">
            <a:avLst/>
          </a:prstGeom>
          <a:solidFill>
            <a:srgbClr val="EEF1F0"/>
          </a:solidFill>
          <a:ln w="12700">
            <a:solidFill>
              <a:srgbClr val="D5DCD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339328" y="4224528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6B7A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UPLIFT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8339328" y="4498848"/>
            <a:ext cx="3154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B58A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+16%</a:t>
            </a:r>
            <a:endParaRPr lang="en-US" sz="2900" dirty="0"/>
          </a:p>
        </p:txBody>
      </p:sp>
      <p:sp>
        <p:nvSpPr>
          <p:cNvPr id="22" name="Text 20"/>
          <p:cNvSpPr txBox="1"/>
          <p:nvPr/>
        </p:nvSpPr>
        <p:spPr>
          <a:xfrm>
            <a:off x="8339328" y="512064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5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what we have averaged all year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0058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B7A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LAST MONTH OF Q3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0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September has to deliver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35024"/>
            <a:ext cx="106070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35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needs £820,902. £246,274 is already banked from week one, which leaves £574,628 across the three weeks that remain.</a:t>
            </a:r>
            <a:endParaRPr lang="en-US" sz="15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2194560"/>
          <a:ext cx="768096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8549640" y="2194560"/>
            <a:ext cx="3090672" cy="1417320"/>
          </a:xfrm>
          <a:prstGeom prst="rect">
            <a:avLst/>
          </a:prstGeom>
          <a:solidFill>
            <a:srgbClr val="EEF1F0"/>
          </a:solidFill>
          <a:ln w="12700">
            <a:solidFill>
              <a:srgbClr val="D5DCDA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805672" y="2395728"/>
            <a:ext cx="26334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6B7A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SEPTEMBER NEEDS</a:t>
            </a:r>
            <a:endParaRPr lang="en-US" sz="1050" dirty="0"/>
          </a:p>
        </p:txBody>
      </p:sp>
      <p:sp>
        <p:nvSpPr>
          <p:cNvPr id="8" name="Text 5"/>
          <p:cNvSpPr txBox="1"/>
          <p:nvPr/>
        </p:nvSpPr>
        <p:spPr>
          <a:xfrm>
            <a:off x="8805672" y="2670048"/>
            <a:ext cx="26791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B58A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£820,902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8549640" y="3749040"/>
            <a:ext cx="3090672" cy="1234440"/>
          </a:xfrm>
          <a:prstGeom prst="rect">
            <a:avLst/>
          </a:prstGeom>
          <a:solidFill>
            <a:srgbClr val="EEF1F0"/>
          </a:solidFill>
          <a:ln w="12700">
            <a:solidFill>
              <a:srgbClr val="D5DCDA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805672" y="3950208"/>
            <a:ext cx="26334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6B7A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BANKED, WEEK 1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8805672" y="4224528"/>
            <a:ext cx="26791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771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£246,274</a:t>
            </a:r>
            <a:endParaRPr lang="en-US" sz="2600" dirty="0"/>
          </a:p>
        </p:txBody>
      </p:sp>
      <p:sp>
        <p:nvSpPr>
          <p:cNvPr id="12" name="Shape 9"/>
          <p:cNvSpPr/>
          <p:nvPr/>
        </p:nvSpPr>
        <p:spPr>
          <a:xfrm>
            <a:off x="8549640" y="5120640"/>
            <a:ext cx="3090672" cy="1234440"/>
          </a:xfrm>
          <a:prstGeom prst="rect">
            <a:avLst/>
          </a:prstGeom>
          <a:solidFill>
            <a:srgbClr val="EEF1F0"/>
          </a:solidFill>
          <a:ln w="12700">
            <a:solidFill>
              <a:srgbClr val="D5DCDA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805672" y="5321808"/>
            <a:ext cx="26334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6B7A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PER WEEK, W2–W4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8805672" y="5596128"/>
            <a:ext cx="26791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0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£191,543</a:t>
            </a:r>
            <a:endParaRPr lang="en-US" sz="2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0058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B7A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PLAN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0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months at £820,902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35024"/>
            <a:ext cx="106070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35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bar we have to clear every month from here. Our best month this year was June at £847,980 — so this is a June, four times over.</a:t>
            </a:r>
            <a:endParaRPr lang="en-US" sz="15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2194560"/>
          <a:ext cx="11091672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5413248"/>
            <a:ext cx="3566160" cy="1024128"/>
          </a:xfrm>
          <a:prstGeom prst="rect">
            <a:avLst/>
          </a:prstGeom>
          <a:solidFill>
            <a:srgbClr val="EEF1F0"/>
          </a:solidFill>
          <a:ln w="12700">
            <a:solidFill>
              <a:srgbClr val="D5DCDA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04672" y="5614416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6B7A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BEST MONTH SO FAR</a:t>
            </a:r>
            <a:endParaRPr lang="en-US" sz="1050" dirty="0"/>
          </a:p>
        </p:txBody>
      </p:sp>
      <p:sp>
        <p:nvSpPr>
          <p:cNvPr id="8" name="Text 5"/>
          <p:cNvSpPr txBox="1"/>
          <p:nvPr/>
        </p:nvSpPr>
        <p:spPr>
          <a:xfrm>
            <a:off x="804672" y="5888736"/>
            <a:ext cx="3154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0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£847,980</a:t>
            </a:r>
            <a:endParaRPr lang="en-US" sz="2400" dirty="0"/>
          </a:p>
        </p:txBody>
      </p:sp>
      <p:sp>
        <p:nvSpPr>
          <p:cNvPr id="9" name="Shape 6"/>
          <p:cNvSpPr/>
          <p:nvPr/>
        </p:nvSpPr>
        <p:spPr>
          <a:xfrm>
            <a:off x="4315968" y="5413248"/>
            <a:ext cx="3566160" cy="1024128"/>
          </a:xfrm>
          <a:prstGeom prst="rect">
            <a:avLst/>
          </a:prstGeom>
          <a:solidFill>
            <a:srgbClr val="EEF1F0"/>
          </a:solidFill>
          <a:ln w="12700">
            <a:solidFill>
              <a:srgbClr val="D5DCDA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572000" y="5614416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6B7A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NEEDED EACH MONTH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4572000" y="5888736"/>
            <a:ext cx="3154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58A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£820,902</a:t>
            </a:r>
            <a:endParaRPr lang="en-US" sz="2400" dirty="0"/>
          </a:p>
        </p:txBody>
      </p:sp>
      <p:sp>
        <p:nvSpPr>
          <p:cNvPr id="12" name="Shape 9"/>
          <p:cNvSpPr/>
          <p:nvPr/>
        </p:nvSpPr>
        <p:spPr>
          <a:xfrm>
            <a:off x="8083296" y="5413248"/>
            <a:ext cx="3566160" cy="1024128"/>
          </a:xfrm>
          <a:prstGeom prst="rect">
            <a:avLst/>
          </a:prstGeom>
          <a:solidFill>
            <a:srgbClr val="EEF1F0"/>
          </a:solidFill>
          <a:ln w="12700">
            <a:solidFill>
              <a:srgbClr val="D5DCDA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339328" y="5614416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6B7A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BELOW OUR BEST MONTH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8339328" y="5888736"/>
            <a:ext cx="3154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771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£27,078</a:t>
            </a:r>
            <a:endParaRPr lang="en-US" sz="2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020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0058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FA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WE BEAT IT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7EE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£5,000 each for every £200,000 over £9m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35024"/>
            <a:ext cx="106070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F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Emily, Stuart, Cassie and Megan. Nine million is the goal — everything above it is shared, and it steps up every two hundred thousand.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331720"/>
            <a:ext cx="2103120" cy="2240280"/>
          </a:xfrm>
          <a:prstGeom prst="rect">
            <a:avLst/>
          </a:prstGeom>
          <a:solidFill>
            <a:srgbClr val="1B2E2C"/>
          </a:solidFill>
          <a:ln w="12700">
            <a:solidFill>
              <a:srgbClr val="24403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2505456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8FA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£9.2m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58368" y="2907792"/>
            <a:ext cx="18836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E7EE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£5,000</a:t>
            </a:r>
            <a:endParaRPr lang="en-US" sz="27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358444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F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658368" y="3968496"/>
            <a:ext cx="1883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8A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£20,000 in total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807208" y="2331720"/>
            <a:ext cx="2103120" cy="2240280"/>
          </a:xfrm>
          <a:prstGeom prst="rect">
            <a:avLst/>
          </a:prstGeom>
          <a:solidFill>
            <a:srgbClr val="1B2E2C"/>
          </a:solidFill>
          <a:ln w="12700">
            <a:solidFill>
              <a:srgbClr val="24403D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944368" y="2505456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8FA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£9.4m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2916936" y="2907792"/>
            <a:ext cx="18836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E7EE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£10,000</a:t>
            </a:r>
            <a:endParaRPr lang="en-US" sz="2700" dirty="0"/>
          </a:p>
        </p:txBody>
      </p:sp>
      <p:sp>
        <p:nvSpPr>
          <p:cNvPr id="13" name="Text 11"/>
          <p:cNvSpPr txBox="1"/>
          <p:nvPr/>
        </p:nvSpPr>
        <p:spPr>
          <a:xfrm>
            <a:off x="2944368" y="358444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F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2916936" y="3968496"/>
            <a:ext cx="1883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8A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£40,000 in total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065776" y="2331720"/>
            <a:ext cx="2103120" cy="2240280"/>
          </a:xfrm>
          <a:prstGeom prst="rect">
            <a:avLst/>
          </a:prstGeom>
          <a:solidFill>
            <a:srgbClr val="1B2E2C"/>
          </a:solidFill>
          <a:ln w="12700">
            <a:solidFill>
              <a:srgbClr val="24403D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202936" y="2505456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8FA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£9.6m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5175504" y="2907792"/>
            <a:ext cx="18836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E7EE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£15,000</a:t>
            </a:r>
            <a:endParaRPr lang="en-US" sz="2700" dirty="0"/>
          </a:p>
        </p:txBody>
      </p:sp>
      <p:sp>
        <p:nvSpPr>
          <p:cNvPr id="18" name="Text 16"/>
          <p:cNvSpPr txBox="1"/>
          <p:nvPr/>
        </p:nvSpPr>
        <p:spPr>
          <a:xfrm>
            <a:off x="5202936" y="358444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F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5175504" y="3968496"/>
            <a:ext cx="1883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8A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£60,000 in total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7324344" y="2331720"/>
            <a:ext cx="2103120" cy="2240280"/>
          </a:xfrm>
          <a:prstGeom prst="rect">
            <a:avLst/>
          </a:prstGeom>
          <a:solidFill>
            <a:srgbClr val="1B2E2C"/>
          </a:solidFill>
          <a:ln w="12700">
            <a:solidFill>
              <a:srgbClr val="24403D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461504" y="2505456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8FA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£9.8m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7434072" y="2907792"/>
            <a:ext cx="18836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E7EE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£20,000</a:t>
            </a:r>
            <a:endParaRPr lang="en-US" sz="2700" dirty="0"/>
          </a:p>
        </p:txBody>
      </p:sp>
      <p:sp>
        <p:nvSpPr>
          <p:cNvPr id="23" name="Text 21"/>
          <p:cNvSpPr txBox="1"/>
          <p:nvPr/>
        </p:nvSpPr>
        <p:spPr>
          <a:xfrm>
            <a:off x="7461504" y="358444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F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7434072" y="3968496"/>
            <a:ext cx="1883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8A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£80,000 in total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9582912" y="2331720"/>
            <a:ext cx="2103120" cy="2240280"/>
          </a:xfrm>
          <a:prstGeom prst="rect">
            <a:avLst/>
          </a:prstGeom>
          <a:solidFill>
            <a:srgbClr val="B58A00"/>
          </a:solidFill>
          <a:ln w="12700">
            <a:solidFill>
              <a:srgbClr val="B58A00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720072" y="2505456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20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£10.0m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9692640" y="2907792"/>
            <a:ext cx="18836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00" b="1" dirty="0">
                <a:solidFill>
                  <a:srgbClr val="1420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£25,000</a:t>
            </a:r>
            <a:endParaRPr lang="en-US" sz="3100" dirty="0"/>
          </a:p>
        </p:txBody>
      </p:sp>
      <p:sp>
        <p:nvSpPr>
          <p:cNvPr id="28" name="Text 26"/>
          <p:cNvSpPr txBox="1"/>
          <p:nvPr/>
        </p:nvSpPr>
        <p:spPr>
          <a:xfrm>
            <a:off x="9720072" y="358444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420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9692640" y="3968496"/>
            <a:ext cx="1883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20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£100,000 in total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548640" y="48463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7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 million means £25,000 each — £100,000 shared between the four of you, out of £1,000,000 of fee income above the goal.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548640" y="589788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F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on fees invoiced, not cash collected. The scheme pays 10% of everything above £9m at every rung. Payment date to be confirmed.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020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0058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FA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STRETCH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7EE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ten million actually takes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35024"/>
            <a:ext cx="106070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F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one million pounds above the goal. Here is the size of it, honestly, so we go after it with our eyes open.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331720"/>
            <a:ext cx="3566160" cy="1920240"/>
          </a:xfrm>
          <a:prstGeom prst="rect">
            <a:avLst/>
          </a:prstGeom>
          <a:solidFill>
            <a:srgbClr val="1B2E2C"/>
          </a:solidFill>
          <a:ln w="12700">
            <a:solidFill>
              <a:srgbClr val="24403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04672" y="2532888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8FA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PER MONTH FOR £9M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804672" y="2807208"/>
            <a:ext cx="3154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7EE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£820,902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804672" y="3429000"/>
            <a:ext cx="3108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16% uplift on our year average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15968" y="2331720"/>
            <a:ext cx="3566160" cy="1920240"/>
          </a:xfrm>
          <a:prstGeom prst="rect">
            <a:avLst/>
          </a:prstGeom>
          <a:solidFill>
            <a:srgbClr val="1B2E2C"/>
          </a:solidFill>
          <a:ln w="12700">
            <a:solidFill>
              <a:srgbClr val="24403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0" y="2532888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8FA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PER MONTH FOR £10M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4572000" y="2807208"/>
            <a:ext cx="3154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2A0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£1,084,060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0" y="3429000"/>
            <a:ext cx="3108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54% uplift — and 28% above our best month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083296" y="2331720"/>
            <a:ext cx="3566160" cy="1920240"/>
          </a:xfrm>
          <a:prstGeom prst="rect">
            <a:avLst/>
          </a:prstGeom>
          <a:solidFill>
            <a:srgbClr val="1B2E2C"/>
          </a:solidFill>
          <a:ln w="12700">
            <a:solidFill>
              <a:srgbClr val="24403D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339328" y="2532888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8FA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PRIZE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8339328" y="2807208"/>
            <a:ext cx="3154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2A0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£25,000</a:t>
            </a:r>
            <a:endParaRPr lang="en-US" sz="3000" dirty="0"/>
          </a:p>
        </p:txBody>
      </p:sp>
      <p:sp>
        <p:nvSpPr>
          <p:cNvPr id="16" name="Text 14"/>
          <p:cNvSpPr txBox="1"/>
          <p:nvPr/>
        </p:nvSpPr>
        <p:spPr>
          <a:xfrm>
            <a:off x="8339328" y="3429000"/>
            <a:ext cx="3108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for Emily, Stuart, Cassie and Megan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" y="4617720"/>
            <a:ext cx="11091672" cy="493776"/>
          </a:xfrm>
          <a:prstGeom prst="rect">
            <a:avLst/>
          </a:prstGeom>
          <a:solidFill>
            <a:srgbClr val="1B2E2C"/>
          </a:solidFill>
          <a:ln w="12700">
            <a:solidFill>
              <a:srgbClr val="24403D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22960" y="4617720"/>
            <a:ext cx="10515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7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the Q1 habits — that quarter cost us £738,273 and we never got it back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548640" y="5184648"/>
            <a:ext cx="11091672" cy="493776"/>
          </a:xfrm>
          <a:prstGeom prst="rect">
            <a:avLst/>
          </a:prstGeom>
          <a:solidFill>
            <a:srgbClr val="1B2E2C"/>
          </a:solidFill>
          <a:ln w="12700">
            <a:solidFill>
              <a:srgbClr val="24403D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2960" y="5184648"/>
            <a:ext cx="10515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7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and August ran at 53% of target. Q4 cannot look like that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548640" y="5751576"/>
            <a:ext cx="11091672" cy="493776"/>
          </a:xfrm>
          <a:prstGeom prst="rect">
            <a:avLst/>
          </a:prstGeom>
          <a:solidFill>
            <a:srgbClr val="1B2E2C"/>
          </a:solidFill>
          <a:ln w="12700">
            <a:solidFill>
              <a:srgbClr val="24403D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22960" y="5751576"/>
            <a:ext cx="10515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7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T6 and T3 carry the practice. Their capacity is the ceiling on all of this</a:t>
            </a:r>
            <a:endParaRPr lang="en-US" sz="13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Year to Date and the Road to £9m</dc:title>
  <dc:subject>PptxGenJS Presentation</dc:subject>
  <dc:creator>Crawford &amp; CO Surveyors</dc:creator>
  <cp:lastModifiedBy>Crawford &amp; CO Surveyors</cp:lastModifiedBy>
  <cp:revision>1</cp:revision>
  <dcterms:created xsi:type="dcterms:W3CDTF">2026-09-07T08:05:10Z</dcterms:created>
  <dcterms:modified xsi:type="dcterms:W3CDTF">2026-09-07T08:05:10Z</dcterms:modified>
</cp:coreProperties>
</file>