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 against target</c:v>
                </c:pt>
              </c:strCache>
            </c:strRef>
          </c:tx>
          <c:spPr>
            <a:solidFill>
              <a:srgbClr val="AD2340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-89561</c:v>
                </c:pt>
                <c:pt idx="1">
                  <c:v>-38493</c:v>
                </c:pt>
                <c:pt idx="2">
                  <c:v>-20260</c:v>
                </c:pt>
                <c:pt idx="3">
                  <c:v>-12210</c:v>
                </c:pt>
                <c:pt idx="4">
                  <c:v>-9014</c:v>
                </c:pt>
                <c:pt idx="5">
                  <c:v>-8112</c:v>
                </c:pt>
                <c:pt idx="6">
                  <c:v>-6214</c:v>
                </c:pt>
                <c:pt idx="7">
                  <c:v>-6120</c:v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Ahead of target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3510</c:v>
                </c:pt>
              </c:numCache>
            </c:numRef>
          </c:val>
        </c:ser>
        <c:dLbls>
          <c:numFmt formatCode="£#,##0;−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-100000"/>
        </c:scaling>
        <c:delete val="0"/>
        <c:axPos val="b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;−£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78565</c:v>
                </c:pt>
                <c:pt idx="1">
                  <c:v>31908</c:v>
                </c:pt>
                <c:pt idx="2">
                  <c:v>111626</c:v>
                </c:pt>
                <c:pt idx="3">
                  <c:v>24175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87651</c:v>
                </c:pt>
                <c:pt idx="1">
                  <c:v>88084</c:v>
                </c:pt>
                <c:pt idx="2">
                  <c:v>90893</c:v>
                </c:pt>
                <c:pt idx="3">
                  <c:v>89801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T6  NR, EB, BF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T10  GA</c:v>
                </c:pt>
              </c:strCache>
            </c:strRef>
          </c:tx>
          <c:spPr>
            <a:solidFill>
              <a:srgbClr val="0E8A9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58053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  EP, CW, AL</c:v>
                </c:pt>
              </c:strCache>
            </c:strRef>
          </c:tx>
          <c:spPr>
            <a:solidFill>
              <a:srgbClr val="57B4B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26281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 six others</c:v>
                </c:pt>
              </c:strCache>
            </c:strRef>
          </c:tx>
          <c:spPr>
            <a:solidFill>
              <a:srgbClr val="9FD2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44941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0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246274</c:v>
                </c:pt>
                <c:pt idx="1">
                  <c:v>246274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350604</c:v>
                </c:pt>
                <c:pt idx="1">
                  <c:v>422287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the Week One fee board review. &lt;break time="0.6s"/&gt; Five charts, &lt;break time="0.3s"/&gt; four minutes. &lt;break time="0.8s"/&gt; The headline. &lt;break time="0.5s"/&gt; We invoiced two hundred and forty six thousand pounds against a target of three hundred and fifty thousand. &lt;break time="0.7s"/&gt; Seventy per cent of target. &lt;break time="0.4s"/&gt; A shortfall of one hundred and four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whole practice. &lt;break time="0.6s"/&gt; The teal bar is what we invoiced. &lt;break time="0.4s"/&gt; The pale bar is target. &lt;break time="0.7s"/&gt; Eight of our nine trading teams finished behind. &lt;break time="0.5s"/&gt; One finished ahead. &lt;break time="0.8s"/&gt; And note this. &lt;break time="0.4s"/&gt; Monday is blank on the board for every team. &lt;break time="0.6s"/&gt; So this is a four day week as recorded.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matters. &lt;break time="0.7s"/&gt; Each team's shortfall in pounds, &lt;break time="0.4s"/&gt; not percentages. &lt;break time="0.7s"/&gt; Team Six is eighty nine thousand behind. &lt;break time="0.5s"/&gt; Team Three, &lt;break time="0.3s"/&gt; thirty eight thousand. &lt;break time="0.7s"/&gt; Together, &lt;break time="0.3s"/&gt; sixty nine per cent of the entire gap. &lt;break time="0.9s"/&gt; Close every other team's shortfall in full, &lt;break time="0.5s"/&gt; and we would still be well behind. &lt;break time="0.7s"/&gt; So today is mostly about Team Six and Team Three.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shape of the week. &lt;break time="0.6s"/&gt; Thursday, &lt;break time="0.3s"/&gt; one hundred and eleven thousand pounds. &lt;break time="0.5s"/&gt; Friday, &lt;break time="0.3s"/&gt; twenty four thousand. &lt;break time="0.7s"/&gt; Thursday was four and a half times Friday, &lt;break time="0.5s"/&gt; against a flat daily target of about eighty eight thousand. &lt;break time="0.8s"/&gt; Fees are not flowing. &lt;break time="0.4s"/&gt; They are bunching. &lt;break time="0.6s"/&gt; That may be invoicing rather than delivery.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income actually comes from. &lt;break time="0.6s"/&gt; Team Six alone is forty eight per cent of everything we invoiced. &lt;break time="0.6s"/&gt; Three teams carry eighty two per cent. &lt;break time="0.8s"/&gt; That is a concentration risk as much as a performance question. &lt;break time="0.6s"/&gt; Team Six is our biggest earner and our biggest miss. &lt;break time="0.5s"/&gt; Is its target set against real capacity?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Two. &lt;break time="0.6s"/&gt; The target rises to four hundred and twenty two thousand. &lt;break time="0.5s"/&gt; Twenty per cent up on Week One. &lt;break time="0.8s"/&gt; Repeat this week's performance &lt;break time="0.4s"/&gt; and we finish a further one hundred and seventy six thousand behind. &lt;break time="0.7s"/&gt; Roughly two hundred and eighty thousand across the fortnight. &lt;break time="0.6s"/&gt; The gap widens while we talk about it.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queries on the board itself. &lt;break time="0.7s"/&gt; One. &lt;break time="0.4s"/&gt; Our team targets add up to four hundred and thirty two thousand, &lt;break time="0.4s"/&gt; but the company line reads three hundred and fifty. &lt;break time="0.6s"/&gt; Eighty two thousand apart. &lt;break time="0.7s"/&gt; Two. &lt;break time="0.4s"/&gt; Monday is blank everywhere. &lt;break time="0.6s"/&gt; Three. &lt;break time="0.4s"/&gt; Wednesday is out by two hundred and one pounds. &lt;break time="0.5s"/&gt; The other three days balance exactly.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actions. &lt;break time="0.6s"/&gt; One. &lt;break time="0.3s"/&gt; Review Team Six's target against real capacity. &lt;break time="0.5s"/&gt; Two. &lt;break time="0.3s"/&gt; Pipeline review for Team Three. &lt;break time="0.5s"/&gt; Three. &lt;break time="0.3s"/&gt; Team Seven to explain the position. &lt;break time="0.5s"/&gt; Four. &lt;break time="0.3s"/&gt; Decide the future of the Team Four line. &lt;break time="0.5s"/&gt; Five. &lt;break time="0.3s"/&gt; Accounts to reconcile the two target figures. &lt;break time="0.5s"/&gt; Six. &lt;break time="0.3s"/&gt; Confirm how often we post fees. &lt;break time="0.9s"/&gt; The first two change the number.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FEE 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 Fee Board Review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teams  ·  four posting days  ·  managers’ meeting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1, Tuesday to Friday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£350,604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target 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SHORTFALL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−£104,330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 of target achieved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transcribed from the fee board and cross-cast against its own total row. Prepared 5 September 2026.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1  ·  THE WHOLE PRACTICE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week landed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nine trading teams finished behind their number. One finished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8595360" cy="7498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6037620" cy="749808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286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 £246,274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87428" y="22860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£350,604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6260" y="3200400"/>
            <a:ext cx="2557740" cy="54864"/>
          </a:xfrm>
          <a:prstGeom prst="rect">
            <a:avLst/>
          </a:prstGeom>
          <a:solidFill>
            <a:srgbClr val="AD2340"/>
          </a:solidFill>
          <a:ln w="12700">
            <a:solidFill>
              <a:srgbClr val="AD23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482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−£104,330 short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2286000"/>
            <a:ext cx="2176272" cy="2377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0" y="2487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THIS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788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 is blank on the board for every single team.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118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is a four-day week as recorded. If Monday was a working day, the position is worse than it looks.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bars are drawn to the same scale.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2  ·  VARIANCE BY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gap belongs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account for 69% of the entire shortfall. This is the chart that decides how we spend today.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818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874520"/>
            <a:ext cx="2953512" cy="21031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15400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482328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8232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−£128,054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723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£186,474 measured against team targets — 69% of the whole gap.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062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every other team’s shortfall in full, leave these two, and we are still well behind.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3  ·  DAILY POSTING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week flowed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was 4.6 times bigger than Friday. Fees are bunching rather than flowing.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7818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£111,626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3865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— the one day that beat target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£24,175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— a quarter of the daily target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£88,000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8554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daily target, roughly, every day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57784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are batching invoices rather than posting on completion, no single day tells us anything useful.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4  ·  CONCENTRATION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income actually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teams carry 82% of the practice’s weekly income. That is a concentration risk as much as a performance question.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9167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we invoiced this week came from Team Six alone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61104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354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535424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just three of our ten team lines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73568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how much of its own target Team Six actually hit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Six is at once our largest earner and our largest miss — so its target is the one that most needs testing against real surveyor capacity.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5  ·  THE WEEK AHEAD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rises as the gap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asks for 20.4% more than Week 1 asked. Repeating this week leaves us a further £176,013 behind.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67912" cy="18745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28432" y="22128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2 TARGET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4871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£422,287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20.4% on Week 1’s target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4069080"/>
            <a:ext cx="3867912" cy="1965960"/>
          </a:xfrm>
          <a:prstGeom prst="rect">
            <a:avLst/>
          </a:prstGeom>
          <a:solidFill>
            <a:srgbClr val="1B2E2C"/>
          </a:solidFill>
          <a:ln w="12700">
            <a:solidFill>
              <a:srgbClr val="1B2E2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42702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REPEAT WEEK 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28432" y="45445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−£176,013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52120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in Week 2 alone — roughly £280,000 across the fortnight.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WE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queries on the board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what the numbers mean, so they are worth settling before Week 2 is written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£82,265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305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targets and the company target do not agree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780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ten team weekly targets add up to £432,869. The company target line reads £350,604. We are currently measuring ourselves against two different numbers.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5021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on every single row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8496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and no target is recorded for Monday anywhere on the board. If it is a non-working day it should be struck through; if it is a missing entry, the week is understated.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8006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8737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Wednesday does not cross-cast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52212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figures add up to £201 more than the total line. Tuesday, Thursday and Friday balance to the pound, so this is a single posting error, not a systemic one.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columns on the right of the board are not covered here — they should be pulled from the accounts system before anyone quotes them.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DECISION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to agree before we leave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are the ones that change the number. The rest is housekeeping.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weekly target against real surveyor capacity across NR, EB and BF — confirm it or reset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 with T6 leads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review: is this instruction volume, report turnaround, or invoicing lag?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position and what work is booked for the coming fortnight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line’s future — retire it, reassign it, or set a target against 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team targets to the company target line and correct the board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fees post daily on completion or weekly in batch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22592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closes Friday. The same board, the same six questions, next week.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Fee Board Review</dc:title>
  <dc:subject>PptxGenJS Presentation</dc:subject>
  <dc:creator>Crawford &amp; CO Surveyors</dc:creator>
  <cp:lastModifiedBy>Crawford &amp; CO Surveyors</cp:lastModifiedBy>
  <cp:revision>1</cp:revision>
  <dcterms:created xsi:type="dcterms:W3CDTF">2026-09-07T08:17:53Z</dcterms:created>
  <dcterms:modified xsi:type="dcterms:W3CDTF">2026-09-07T08:17:53Z</dcterms:modified>
</cp:coreProperties>
</file>